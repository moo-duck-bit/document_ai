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순서: 한 문장 정의 → 비교 → 원리(B1~B5·코드) → 숫자 → UI/산출물.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라이브 데모 없음. 화면·산출물 캡처로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기억할 문장. 이후 B1~B5·코드·숫자·화면은 모두 이 문장의 증명.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청중 한 줄: 우리는 ‘문서 생성기’가 아니라 ‘변경 영향 + 안전 게이트’ 시스템이다.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Benchmark v2 run 20260801T192542Z_5a685d77 · Pilot Run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Holdout n=23 · Pilot Writer OFF dry-run · 벤치≠제품 점수 혼동 금지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2A43"/>
                </a:solidFill>
                <a:latin typeface="Malgun Gothic"/>
              </a:rPr>
              <a:t>Document AI ×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C6570"/>
                </a:solidFill>
                <a:latin typeface="Malgun Gothic"/>
              </a:rPr>
              <a:t>마인드리움·탐색임상 문서 자동화 사례로 본
에이전트 하네스 · B1~B5 · 평가 · 안전 · 제품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오늘 발표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0) Document AI가 무엇인지 — 한 문장 + 다른 AI와의 차이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1) 배경·AI Engineering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2) 원리 — B1→B5 + 코드 흐름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3) 벤치마크·Pilot 수치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4) UI·Writer ON 산출물 · 보고서/제안서 확장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5) 향후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2A43"/>
                </a:solidFill>
                <a:latin typeface="Malgun Gothic"/>
              </a:rPr>
              <a:t>Document AI란 (한 문장)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C6570"/>
                </a:solidFill>
                <a:latin typeface="Malgun Gothic"/>
              </a:rPr>
              <a:t>문서를 대신 써 주는 AI가 아니라,
변경이 어디에 닿는지 찾아 보여 주고,
사람이 승인한 뒤에만 복사본에 안전하게 남기는 시스템.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Document AI 동작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2154326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변경요청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76118" y="2194560"/>
            <a:ext cx="2154326" cy="137160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찾기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3596" y="2194560"/>
            <a:ext cx="2154326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보여주기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1075" y="2194560"/>
            <a:ext cx="2154326" cy="137160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사람 승인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58553" y="2194560"/>
            <a:ext cx="2154326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복사본만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570"/>
                </a:solidFill>
                <a:latin typeface="Malgun Gothic"/>
              </a:rPr>
              <a:t>원본은 건드리지 않는다. 메인 경로에 생성형 LLM 문장 작성을 두지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무엇이 다른가 — Document AI의 자리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112471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3891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LLM에 문서 맡기기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일반 RAG QA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Document AI (오늘)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문장·초안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질문에 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변경 위치 탐색·안전 반영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쓰는가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자유롭게 생성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거의 안 씀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승인 후에만 복사본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근거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프롬프트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검색 청크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Req/표·규칙·REVIEW 사유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실패 비용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그럴듯한 오답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틀린 답변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오패치·원본 손상 차단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사람 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후편집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해석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후보 승인·거절·보류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AI Engineering이란 (이 프로젝트)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Malgun Gothic"/>
              </a:rPr>
              <a:t>하지 않는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프롬프트 한 번으로 문서 생성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벤치 점수만 올리는 튜닝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원본 파일에 바로 쓰기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설명 없는 블랙박스 추천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6A9F"/>
                </a:solidFill>
                <a:latin typeface="Malgun Gothic"/>
              </a:rPr>
              <a:t>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하네스·스킬·티켓으로 작업 통제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도메인 규칙 + 구조적 추론 (B1~B5)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Holdout·회귀·안전 지표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사람-in-the-loop 게이트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Pilot으로 제품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도메인 배경: 마인드리움 · 탐색임상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마인드리움 앱·탐색임상 과정에서 EC-SW 문서가 지속 갱신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한 변경이 MDSR→MDDR→추적성/시험으로 전파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병목은 ‘문장 창작’이 아니라 위치 찾기·일치 확인·누락 방지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그래서: 찾기 → 보여주기 → 승인 → 복사본만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North Star vs 현재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Malgun Gothic"/>
              </a:rPr>
              <a:t>North Star (Form Fill)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완성본 학습 → 빈 양식+케이스로 초안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구조화 필드 LLM 금지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6A9F"/>
                </a:solidFill>
                <a:latin typeface="Malgun Gothic"/>
              </a:rPr>
              <a:t>현재 (Change Impact)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B1~B5로 영향 위치·게이트·패치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Pilot UI · Domain Pack 확장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Document Change Agent = B1→B5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Document AI 메인 로직: 인덱싱 → 검색 → 판정 → 게이트 → 패치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LLM이 문장을 쓰는 파이프라인이 아님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단계마다 질문·규칙·산출물이 분리되어 감사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B1 ~ B5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2154326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B1 Index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76118" y="2194560"/>
            <a:ext cx="2154326" cy="137160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B2 Retrieve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3596" y="2194560"/>
            <a:ext cx="2154326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B3 Judge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1075" y="2194560"/>
            <a:ext cx="2154326" cy="1371600"/>
          </a:xfrm>
          <a:prstGeom prst="round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B4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58553" y="2194560"/>
            <a:ext cx="2154326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B5 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C6570"/>
                </a:solidFill>
                <a:latin typeface="Malgun Gothic"/>
              </a:rPr>
              <a:t>앞단 Recall · 뒷단 Precision/Safety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B1~B5 — 단계 · 질문 · 산출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112471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3891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산출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B1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어떤 단위로 자를까?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Req 블록 인덱스 (변경 없음)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B2 Retrieve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후보가 어디인가?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Top-K (lexical+TF-IDF)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B3 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정말 영향인가?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IMPACTED / UNCERTAIN / NOT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B4 Gate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써도 안전한가?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CONSISTENT만 통과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B5 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어디에 남길까?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복사본 · Diff · 원본 보존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B1 Index · B2 Retrieve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Malgun Gothic"/>
              </a:rPr>
              <a:t>B1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Req 블록으로 분해·중복 제거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locator 고정 · 문서 미변경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이후 단계의 근거 단위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6A9F"/>
                </a:solidFill>
                <a:latin typeface="Malgun Gothic"/>
              </a:rPr>
              <a:t>B2 Retrieve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0.4 lexical + 0.6 TF-IDF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Top-K≈15 · LLM 임베딩 아님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gold 누수 금지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B3 Judge · B4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Malgun Gothic"/>
              </a:rPr>
              <a:t>B3 Judge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relevance / facet / false-friend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ID만으로 IMPACTED 금지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애매하면 UNCERTAIN→REVIEW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6A9F"/>
                </a:solidFill>
                <a:latin typeface="Malgun Gothic"/>
              </a:rPr>
              <a:t>B4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영향 ≠ 쓰기 허용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CONSISTENT만 자동 경로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CONFLICT/REVIEW는 차단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B5 Patch · LLM 비사용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Malgun Gothic"/>
              </a:rPr>
              <a:t>B5 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복사본만 · fingerprint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정렬 약하면 REVIEW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Diff / Validation 기록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6A9F"/>
                </a:solidFill>
                <a:latin typeface="Malgun Gothic"/>
              </a:rPr>
              <a:t>왜 LLM을 메인에 안 두나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구조화 필드 hallucination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추적성 ID 날조 위험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설명 불가 변경 방지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free_text만 나중에 검토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코드로 보는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아래 코드는 ‘똑똑한 문장 생성’이 아니라 단계 계약이다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함수 이름 ≈ B1~B5 · UI ‘분석/승인/Writer’와 1:1로 대응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읽기 포인트: 입력이 무엇인지, 무엇을 넘기는지, 어디서 막는가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코드 ① 오케스트레이션 — 전체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570"/>
                </a:solidFill>
                <a:latin typeface="Malgun Gothic"/>
              </a:rPr>
              <a:t>pilot_v2 / change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11338560" cy="411480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1064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UI ‘분석 실행’ ≈ 이 파이프라인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session = create_session(docs, change_request)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session = resolve_identity(...)      # Pack 추천·확인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session = analyze(session)           # B1→B3 (+후보 스키마)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UI ‘승인’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session = apply_decisions(APPROVE|REJECT|HOLD)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UI ‘Writer’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session = run_writer_if_allowed(     # B4·B5 게이트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enable_write=..., env_flag=...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F24"/>
                </a:solidFill>
                <a:latin typeface="Malgun Gothic"/>
              </a:rPr>
              <a:t>프로세스: 세션 만들기 → 유형 확인 → 분석 → 사람 결정 → 조건부 쓰기.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코드 ② B1·B2 — 인덱스 · 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570"/>
                </a:solidFill>
                <a:latin typeface="Malgun Gothic"/>
              </a:rPr>
              <a:t>index / retrieve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11338560" cy="411480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1064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B1: 문서를 Req 블록으로 자름 (미변경)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index = build_req_index(mdsr, mddr)  # id, title, body, locator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B2: CR과 비슷한 후보만 Top-K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scores = 0.4*lexical(CR, index) + 0.6*tfidf_cosine(CR, index)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candidates = top_k(scores, k=15)     # gold 누수 금지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F24"/>
                </a:solidFill>
                <a:latin typeface="Malgun Gothic"/>
              </a:rPr>
              <a:t>왜: 전체 문서를 바로 판정하지 않고, 설명 가능한 점수로 후보를 좁힌다.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코드 ③ B3·B4 — 판정 · 게이트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570"/>
                </a:solidFill>
                <a:latin typeface="Malgun Gothic"/>
              </a:rPr>
              <a:t>judge /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11338560" cy="411480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1064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B3: 후보마다 영향 라벨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for c in candidates: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label = judge(c, rules)  # IMPACTED | UNCERTAIN | NOT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# rule: ID만으로 IMPACTED 금지 · false-friend 차단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# B4: 쓰기 자격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if label != IMPACTED: skip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if consistency != CONSISTENT:  # CONFLICT/REVIEW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block_write(); ask_human()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else: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allow_patch_path()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F24"/>
                </a:solidFill>
                <a:latin typeface="Malgun Gothic"/>
              </a:rPr>
              <a:t>왜: ‘관련 있음’과 ‘지금 써도 됨’을 코드에서 분리한다.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코드 ④ B5 — Writer 게이트 · 원본 보존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C6570"/>
                </a:solidFill>
                <a:latin typeface="Malgun Gothic"/>
              </a:rPr>
              <a:t>controlled_writer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11338560" cy="411480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1064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gates = {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"routing_confirmed": True,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"explicit_approved_items": True,  # 사람 APPROVE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"enable_write_flag": True,        # UI 체크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"controlled_writer_env": True,    # 서버 플래그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if all(gates.values()):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write_copy_only(dst)            # 원본 path 금지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assert fingerprint(src) == before_sha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else: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E8EEF5"/>
                </a:solidFill>
                <a:latin typeface="Consolas"/>
              </a:rPr>
              <a:t>    return BLOCKED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F24"/>
                </a:solidFill>
                <a:latin typeface="Malgun Gothic"/>
              </a:rPr>
              <a:t>capability ≠ activation. 하나라도 false면 쓰지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성능 지표 — 무엇을 측정하는가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생성 문장의 자연스러움이 아니라, 위치 탐색·판정·안전성·사용성을 측정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Document F1 / E2E: 영향 문서·파이프라인 성공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Node Top-1 / Recall: 올바른 위치 탐색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False Patch / Unsafe / Original Preservation: 안전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Pilot: Completion · 사람 동의 · Trust (벤치와 분리)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Benchmark · Pilot 수치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1124712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3891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층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Document 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봉인 셋 일반화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Holdout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E2E Success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0.957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파이프라인 성공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Required Node Top-1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필수 위치 1순위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Holdout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False Patch / Unsafe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 / 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오패치·위험 실패 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Original Preservation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원본 무변경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Pilot 01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Completion / Safety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1.0 / PASS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9세션·무단쓰기 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Pilot 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Doc·Node 동의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사람 평가 일치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Pilot 01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Trust / Usability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3.78 / 4.0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algun Gothic"/>
                        </a:rPr>
                        <a:t>1–5 척도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2A43"/>
                </a:solidFill>
                <a:latin typeface="Malgun Gothic"/>
              </a:rPr>
              <a:t>수치 해석 · 한계 (정직하게)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Malgun Gothic"/>
              </a:rPr>
              <a:t>이렇게 읽으면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안전 지표가 핵심 주장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Holdout F1/E2E는 일반화 증거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Pilot은 ‘써도 되는지’ 별도 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60120"/>
            <a:ext cx="5303520" cy="5029200"/>
          </a:xfrm>
          <a:prstGeom prst="roundRect">
            <a:avLst/>
          </a:prstGeom>
          <a:solidFill>
            <a:srgbClr val="EEF2F6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6A9F"/>
                </a:solidFill>
                <a:latin typeface="Malgun Gothic"/>
              </a:rPr>
              <a:t>한계 · 아직 주장하지 않는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의미만으로 된 요청: 후보 0건 (bug로 기록)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Pilot 01: 정해진 시나리오·Writer OFF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Pilot Writer MVP: 텍스트 재작성 전 복사본 단계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C1F24"/>
                </a:solidFill>
                <a:latin typeface="Malgun Gothic"/>
              </a:rPr>
              <a:t>•  벤치 점수로 Pilot을 튜닝하지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UI · 산출물 — 원리가 런타임에서 보이는 모습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시나리오: EC-SW 단일 Req.11 변경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아래: 실제 /pilot-v2 캡처 + Writer ON 복사본 증거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이어서 보고서·제안서 Pack 확장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UI ① 업로드 ·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Participant DEMO · EC-SW 단일 Req ID 변경 · 세션 복사본만 사용</a:t>
            </a:r>
          </a:p>
        </p:txBody>
      </p:sp>
      <p:pic>
        <p:nvPicPr>
          <p:cNvPr id="5" name="Picture 4" descr="01_upload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UI ② 변경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Req. 11 기능 설명 갱신 + 추적성 행 검토</a:t>
            </a:r>
          </a:p>
        </p:txBody>
      </p:sp>
      <p:pic>
        <p:nvPicPr>
          <p:cNvPr id="5" name="Picture 4" descr="04_change_request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UI ③ 영향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읽기 전용 분석 · 패치 후보/검토 항목 스키마</a:t>
            </a:r>
          </a:p>
        </p:txBody>
      </p:sp>
      <p:pic>
        <p:nvPicPr>
          <p:cNvPr id="5" name="Picture 4" descr="05_analyze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UI ④ 검토·승인 (Req.11)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exact_requirement_id_match · 명시 승인만 Writer 대상</a:t>
            </a:r>
          </a:p>
        </p:txBody>
      </p:sp>
      <p:pic>
        <p:nvPicPr>
          <p:cNvPr id="5" name="Picture 4" descr="06_review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산출물 A — Before: Req.11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원본 추적성 표에서 Req.11 행을 시스템이 지목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artifact: docs/presentation/artifacts/req11_writer_on/before_*.docx</a:t>
            </a:r>
          </a:p>
        </p:txBody>
      </p:sp>
      <p:pic>
        <p:nvPicPr>
          <p:cNvPr id="5" name="Picture 4" descr="11_req11_before_lo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산출물 B — Writer ON: 복사본 · 원본 보존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status WRITTEN_COPY_ONLY · original_preservation ok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정직 고지: MVP는 안전 복사까지 (셀 텍스트 rewrite는 로드맵)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copy: artifacts/req11_writer_on/after_MDTM_PILOT_BASE.docx</a:t>
            </a:r>
          </a:p>
        </p:txBody>
      </p:sp>
      <p:pic>
        <p:nvPicPr>
          <p:cNvPr id="5" name="Picture 4" descr="12_req11_writer_on_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산출물 C — B5 텍스트 Diff 예시 (scenario-001)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Document Change Agent B5에서 실제 before/after 문안 Diff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Pilot Writer 텍스트 apply와는 단계가 다름 — 혼동하지 말 것</a:t>
            </a:r>
          </a:p>
        </p:txBody>
      </p:sp>
      <p:pic>
        <p:nvPicPr>
          <p:cNvPr id="5" name="Picture 4" descr="13_b5_text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417320"/>
            <a:ext cx="79654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UI ⑤ Writer OFF 경로 (Pilot dry-run)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수정 기능이 구현되어 있어도, 실행 조건이 충족되지 않으면 동작하지 않습니다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보조: capability ≠ activation · status BLOCKED</a:t>
            </a:r>
          </a:p>
        </p:txBody>
      </p:sp>
      <p:pic>
        <p:nvPicPr>
          <p:cNvPr id="5" name="Picture 4" descr="07_writer_blocked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01" y="1417320"/>
            <a:ext cx="919089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도메인 확장: 보고서 · 제안서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같은 B1~B5·게이트 · Domain Pack만 추가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general_report: 방법론 등 섹션 단위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business_proposal: 예산·일정·위험 (금액은 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확장 — 일반보고서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방법론 CR · REVIEW 항목으로 동일 UI 계약</a:t>
            </a:r>
          </a:p>
        </p:txBody>
      </p:sp>
      <p:pic>
        <p:nvPicPr>
          <p:cNvPr id="5" name="Picture 4" descr="09_gr_analy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417320"/>
            <a:ext cx="79654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A43"/>
                </a:solidFill>
                <a:latin typeface="Malgun Gothic"/>
              </a:rPr>
              <a:t>확장 — 사업제안서 검토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C1F24"/>
                </a:solidFill>
                <a:latin typeface="Malgun Gothic"/>
              </a:rPr>
              <a:t>•  예산 후보 REVIEW_REQUIRED · 사람 승인 전제</a:t>
            </a:r>
          </a:p>
        </p:txBody>
      </p:sp>
      <p:pic>
        <p:nvPicPr>
          <p:cNvPr id="5" name="Picture 4" descr="10_bp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417320"/>
            <a:ext cx="79654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향후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단기: Pilot Run 02(실사용자) · Writer ON 소규모 안전 실험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중기: 의미-only Locator · 승인 유지 텍스트 apply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장기: Form Fill North Star · Pack 추가 = 새 문서 종류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원칙: holdout 봉인 · gold 분리 · 구조화 필드 LLM 금지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A43"/>
                </a:solidFill>
                <a:latin typeface="Malgun Gothic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메인 로직은 B1~B5 (탐색·판정·게이트·패치)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성능은 Holdout·Safety·Pilot로 층위별 측정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산출물은 위치 증거 + 안전 복사(+ B5 Diff 예시)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C1F24"/>
                </a:solidFill>
                <a:latin typeface="Malgun Gothic"/>
              </a:rPr>
              <a:t>•  EC-SW → 보고서·제안서로 Pack 확장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2A43"/>
                </a:solidFill>
                <a:latin typeface="Malgun Gothic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C6570"/>
                </a:solidFill>
                <a:latin typeface="Malgun Gothic"/>
              </a:rPr>
              <a:t>Document AI × AI Engineering
B1~B5 · 평가 · 안전 ·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Malgun Gothic"/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