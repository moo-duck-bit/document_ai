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오프닝: 생성형 LLM이 문서를 쓰는 제품이 아니라, 변경 위치를 찾고 사람이 통제하는 안전 Pilot임을 먼저 말합니다.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12–15분 기준. 데모는 시나리오 장에서 /pilot-v2로 전환 가능.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청중에게: ‘자동 작성’보다 ‘안전한 변경 통제’가 오늘의 초점.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 문장 강조: 최종 권한은 항상 사람.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North Star와 현재 Pilot 범위를 구분합니다.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오해 방지 슬라이드. ‘AI가 글을 쓴다’가 아님을 분명히.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아키텍처와 모듈 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위→아래로 내려가는 계층. Domain Pack = EC-SW / GR / BP.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데모 전에 프로세스 전체를 한 바퀴.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이제부터 단계별로 원리와 AI 역할을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Locator = DOCX 표/행/셀 실제 위치 해석기.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분석 단계의 내부 흐름. 여기가 ‘지능’의 중심.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하나라도 실패하면 BLOCKED. Dry-run에서는 Writer OFF가 정상.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메시지: 생성형 LLM이 문장을 쓰는 단계가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데모 전환 가능 구간.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데모 전환: /pilot-v2에서 시나리오 선택.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실행 방법과 핵심 코드.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외부망 공개 시 인증 없음 → LAN/VPN만 권장.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파일 경로를 언급하고, ‘얇은 오케스트레이터’임을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Benchmark와 Pilot Run 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Pilot 단계에서 벤치마크를 튜닝하지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닫는 문장: READY_FOR_PILOT_RELEASE.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유도: 시나리오, 안전 게이트, LLM 미사용 이유.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F2A43"/>
                </a:solidFill>
                <a:latin typeface="Malgun Gothic"/>
              </a:rPr>
              <a:t>Document AI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C6570"/>
                </a:solidFill>
                <a:latin typeface="Malgun Gothic"/>
              </a:rPr>
              <a:t>문서 변경을 안전하게 찾는 Pilot
찾고 → 보여주고 → 사람이 승인 → 복사본만 저장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43"/>
                </a:solidFill>
                <a:latin typeface="Malgun Gothic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문제 정의와 한 줄 해결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전체 구성 · 아키텍처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사용자 6단계 프로세스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사용 시나리오 (EC-SW / 보고서 / 제안서)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구동 방법 · 코드 · 검증 결과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한계와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43"/>
                </a:solidFill>
                <a:latin typeface="Malgun Gothic"/>
              </a:rPr>
              <a:t>문서는 바뀌는데, 수정은 위험하다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요구·설계·제안·보고서는 서로 연결됨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한 줄 변경이 여러 표·섹션에 영향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사람은 위치를 찾기 어렵고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자동 수정은 원본 손상 위험이 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43"/>
                </a:solidFill>
                <a:latin typeface="Malgun Gothic"/>
              </a:rPr>
              <a:t>해결: 찾고 → 보여주고 → 승인 → 복사본만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시스템은 영향 위치 후보를 찾는다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사람은 승인 / 거절 / 보류한다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원본은 직접 수정하지 않는다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Writer는 게이트를 통과한 복사본만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4E79"/>
                </a:solidFill>
                <a:latin typeface="Malgun Gothic"/>
              </a:rPr>
              <a:t>01 · 목표와 범위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43"/>
                </a:solidFill>
                <a:latin typeface="Malgun Gothic"/>
              </a:rPr>
              <a:t>North Star vs 현재 v2 범위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최종: 완성본 학습 → 빈 양식 자동 작성 (Form Fill)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현재 데모: 변경 요청 → 위치 탐색 → 승인 → 안전 저장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상태: READY_FOR_PILOT_RELEASE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Pilot Run 01 완료 · Run 02 실사용자 준비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43"/>
                </a:solidFill>
                <a:latin typeface="Malgun Gothic"/>
              </a:rPr>
              <a:t>한 것과 안 한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함: Identity, Locator, Domain Pack, Pilot UI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함: Approval 게이트 · Human Review 10점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안 함: 원격 LLM / 원격 Embedding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안 함: 자동 승인 · 원본 직접 수정 · Gold 자동 수정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4E79"/>
                </a:solidFill>
                <a:latin typeface="Malgun Gothic"/>
              </a:rPr>
              <a:t>02 · 전체 구성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A43"/>
                </a:solidFill>
                <a:latin typeface="Malgun Gothic"/>
              </a:rPr>
              <a:t>시스템 아키텍처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377440"/>
            <a:ext cx="2640330" cy="12801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Pilot UI/CLI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43250" y="283464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326130" y="2377440"/>
            <a:ext cx="2640330" cy="1280160"/>
          </a:xfrm>
          <a:prstGeom prst="round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20740" y="283464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103620" y="2377440"/>
            <a:ext cx="2640330" cy="12801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Domain Packs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98230" y="283464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881110" y="2377440"/>
            <a:ext cx="2640330" cy="1280160"/>
          </a:xfrm>
          <a:prstGeom prst="round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Controlled Writer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C6570"/>
                </a:solidFill>
                <a:latin typeface="Malgun Gothic"/>
              </a:rPr>
              <a:t>흐름: 왼쪽 → 오른쪽 · 사람 승인 전 원본/복사본 쓰기 없음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43"/>
                </a:solidFill>
                <a:latin typeface="Malgun Gothic"/>
              </a:rPr>
              <a:t>모듈 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Identity · Pack Routing — 문서 유형 추천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Locator · Ranking — 변경 위치 후보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Physical Locator · Patch Contract — 실제 위치·유효성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Controlled Writer · Diff/Validation — 안전 저장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Pilot UI · Human Review — 사용·평가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43"/>
                </a:solidFill>
                <a:latin typeface="Malgun Gothic"/>
              </a:rPr>
              <a:t>세션·데이터 레이아웃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sessions/&lt;id&gt;/ — 업로드 복사본·분석·리뷰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data/pilot/demo/ — 발표용 샘플 문서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data/pilot/results/ — Pilot 집계 보고서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벤치마크 코퍼스와 Pilot 데이터는 분리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4E79"/>
                </a:solidFill>
                <a:latin typeface="Malgun Gothic"/>
              </a:rPr>
              <a:t>03 · 사용자 6단계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A43"/>
                </a:solidFill>
                <a:latin typeface="Malgun Gothic"/>
              </a:rPr>
              <a:t>End-to-End 6 Step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377440"/>
            <a:ext cx="1714500" cy="12801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1 업로드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17420" y="283464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2400300" y="2377440"/>
            <a:ext cx="1714500" cy="1280160"/>
          </a:xfrm>
          <a:prstGeom prst="round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2 유형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283464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4251959" y="2377440"/>
            <a:ext cx="1714500" cy="12801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3 요청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0740" y="283464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103619" y="2377440"/>
            <a:ext cx="1714500" cy="1280160"/>
          </a:xfrm>
          <a:prstGeom prst="round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4 분석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399" y="283464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7955279" y="2377440"/>
            <a:ext cx="1714500" cy="12801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5 승인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4059" y="283464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9806940" y="2377440"/>
            <a:ext cx="1714500" cy="1280160"/>
          </a:xfrm>
          <a:prstGeom prst="round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6 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C6570"/>
                </a:solidFill>
                <a:latin typeface="Malgun Gothic"/>
              </a:rPr>
              <a:t>흐름: 왼쪽 → 오른쪽 · 사람 승인 전 원본/복사본 쓰기 없음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43"/>
                </a:solidFill>
                <a:latin typeface="Malgun Gothic"/>
              </a:rPr>
              <a:t>1. 업로드 — 세션 복사본만 사용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DOCX 검증 · filename sanitization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fingerprint(해시)로 원본 보존 검증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세션 workspace에만 저장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AI 역할: 없음 (안전 입력)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43"/>
                </a:solidFill>
                <a:latin typeface="Malgun Gothic"/>
              </a:rPr>
              <a:t>2. 문서 유형 — Identity &amp; Domain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파일명·표·식별자·구조 신호 추출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EC-SW / 보고서 / 제안서 추천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assisted: 사용자가 추천 확정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AI 역할: 분류·추천 (최종은 사람)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43"/>
                </a:solidFill>
                <a:latin typeface="Malgun Gothic"/>
              </a:rPr>
              <a:t>3. 변경 요청 — 자연어 Intent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예: Req.11 갱신, 방법론 출처 보강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세션에 저장되어 분석 쿼리가 됨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이 단계에서는 생성/추론 없음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AI 역할: 없음 (입력만)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43"/>
                </a:solidFill>
                <a:latin typeface="Malgun Gothic"/>
              </a:rPr>
              <a:t>4. 분석 — 엔진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parse → intent → locate → rank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physical resolve → patch contract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결과: 영향문서 · 후보 · REVIEW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AI 역할: 후보 탐색·순위 (LLM 생성 아님)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A43"/>
                </a:solidFill>
                <a:latin typeface="Malgun Gothic"/>
              </a:rPr>
              <a:t>엔진 내부 파이프라인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377440"/>
            <a:ext cx="1714500" cy="12801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parse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17420" y="283464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2400300" y="2377440"/>
            <a:ext cx="1714500" cy="1280160"/>
          </a:xfrm>
          <a:prstGeom prst="round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intent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283464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4251959" y="2377440"/>
            <a:ext cx="1714500" cy="12801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locate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0740" y="283464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103619" y="2377440"/>
            <a:ext cx="1714500" cy="1280160"/>
          </a:xfrm>
          <a:prstGeom prst="round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399" y="283464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7955279" y="2377440"/>
            <a:ext cx="1714500" cy="12801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physical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4059" y="283464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9806940" y="2377440"/>
            <a:ext cx="1714500" cy="1280160"/>
          </a:xfrm>
          <a:prstGeom prst="round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C6570"/>
                </a:solidFill>
                <a:latin typeface="Malgun Gothic"/>
              </a:rPr>
              <a:t>흐름: 왼쪽 → 오른쪽 · 사람 승인 전 원본/복사본 쓰기 없음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43"/>
                </a:solidFill>
                <a:latin typeface="Malgun Gothic"/>
              </a:rPr>
              <a:t>5. 검토·승인 — 사람이 최종 권한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항목별 승인 / 거절 / 보류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근거·confidence를 카드로 표시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자동 승인 없음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AI 역할: 제안만 (결정은 사람)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43"/>
                </a:solidFill>
                <a:latin typeface="Malgun Gothic"/>
              </a:rPr>
              <a:t>6. 결과 — 게이트 · 검증 ·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Writer: APPROVE∧flag∧fingerprint∧copy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Diff / Validation / Original Preservation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Human Review 10차원 점수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AI 역할: 거의 없음 (안전·리포트)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A43"/>
                </a:solidFill>
                <a:latin typeface="Malgun Gothic"/>
              </a:rPr>
              <a:t>Writer 안전 게이트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377440"/>
            <a:ext cx="1449977" cy="12801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APPROVE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52897" y="283464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2135777" y="2377440"/>
            <a:ext cx="1449977" cy="1280160"/>
          </a:xfrm>
          <a:prstGeom prst="round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40034" y="283464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3722914" y="2377440"/>
            <a:ext cx="1449977" cy="12801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VALID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7171" y="283464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5310051" y="2377440"/>
            <a:ext cx="1449977" cy="1280160"/>
          </a:xfrm>
          <a:prstGeom prst="round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locator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4308" y="283464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897188" y="2377440"/>
            <a:ext cx="1449977" cy="12801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fingerprint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1445" y="283464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484325" y="2377440"/>
            <a:ext cx="1449977" cy="1280160"/>
          </a:xfrm>
          <a:prstGeom prst="round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env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88582" y="283464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10071462" y="2377440"/>
            <a:ext cx="1449977" cy="12801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copy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C6570"/>
                </a:solidFill>
                <a:latin typeface="Malgun Gothic"/>
              </a:rPr>
              <a:t>흐름: 왼쪽 → 오른쪽 · 사람 승인 전 원본/복사본 쓰기 없음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A43"/>
                </a:solidFill>
                <a:latin typeface="Malgun Gothic"/>
              </a:rPr>
              <a:t>사람 / 시스템 / AI 역할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11556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41148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algun Gothic"/>
                        </a:rPr>
                        <a:t>단계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algun Gothic"/>
                        </a:rPr>
                        <a:t>사람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algun Gothic"/>
                        </a:rPr>
                        <a:t>시스템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algun Gothic"/>
                        </a:rPr>
                        <a:t>AI에 가까운 부분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업로드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파일 선택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복사·해시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유형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추천 확정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Identity·Routing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문서 분류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요청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자연어 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요청 저장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분석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대기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Locator·Contract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후보 탐색·순위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승인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승인/거절/보류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카드·게이트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제안만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평가·다운로드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Writer·검증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4E79"/>
                </a:solidFill>
                <a:latin typeface="Malgun Gothic"/>
              </a:rPr>
              <a:t>04 · 사용 시나리오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43"/>
                </a:solidFill>
                <a:latin typeface="Malgun Gothic"/>
              </a:rPr>
              <a:t>시나리오 A · EC-SW Req.11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UI: EC-SW 단일 Req ID 변경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요청: Req.11 추적성 행 검토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기대: Req.11 행 후보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사람: 관련만 승인, 나머지 보류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43"/>
                </a:solidFill>
                <a:latin typeface="Malgun Gothic"/>
              </a:rPr>
              <a:t>시나리오 B · 일반보고서 방법론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요청: 방법론에 데이터 출처 보강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기대: 방법론 섹션 후보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사람: 방법론만 승인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실패 신호: 결론·일정만 잡힘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43"/>
                </a:solidFill>
                <a:latin typeface="Malgun Gothic"/>
              </a:rPr>
              <a:t>시나리오 C · 사업제안서 예산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요청: 예산 표 인건비 항목 수정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기대: 예산/인건비 후보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사람: 불확실하면 보류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금액은 자동 승인하지 않음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43"/>
                </a:solidFill>
                <a:latin typeface="Malgun Gothic"/>
              </a:rPr>
              <a:t>관찰 케이스 · 의미 기반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요청: ‘인증 정책 강화’ (ID 없음)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Run 01: 검토 항목 0건 · PARTIAL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수정하지 않고 bug candidate로 기록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한계를 숨기지 않는 것이 Pilot의 원칙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4E79"/>
                </a:solidFill>
                <a:latin typeface="Malgun Gothic"/>
              </a:rPr>
              <a:t>05 · 구동과 코드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43"/>
                </a:solidFill>
                <a:latin typeface="Malgun Gothic"/>
              </a:rPr>
              <a:t>실행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로컬: uvicorn … → /pilot-v2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Docker: compose up → :8765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기본: CONTROLLED_WRITER_ENABLED=false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CLI: run-pilot-demo / evaluate-pilot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A43"/>
                </a:solidFill>
                <a:latin typeface="Malgun Gothic"/>
              </a:rPr>
              <a:t>코드 · Pilot 오케스트레이터 흐름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247120" cy="4572000"/>
          </a:xfrm>
          <a:prstGeom prst="roundRect">
            <a:avLst/>
          </a:prstGeom>
          <a:solidFill>
            <a:srgbClr val="0F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E8EEF5"/>
                </a:solidFill>
                <a:latin typeface="Consolas"/>
              </a:rPr>
              <a:t># src/document_ai/pilot_v2/orchestrator.py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8EEF5"/>
                </a:solidFill>
                <a:latin typeface="Consolas"/>
              </a:rPr>
              <a:t># create → upload → resolve_identity → analyze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8EEF5"/>
                </a:solidFill>
                <a:latin typeface="Consolas"/>
              </a:rPr>
              <a:t># → apply_decisions → run_writer_if_allowed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8EEF5"/>
                </a:solidFill>
                <a:latin typeface="Consolas"/>
              </a:rPr>
              <a:t># → save_human_review → get_result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8EEF5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8EEF5"/>
                </a:solidFill>
                <a:latin typeface="Consolas"/>
              </a:rPr>
              <a:t>ALLOWED = {"ec_sw", "general_report", "business_proposal"}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8EEF5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8EEF5"/>
                </a:solidFill>
                <a:latin typeface="Consolas"/>
              </a:rPr>
              <a:t># Writer는 텍스트 패치를 적용하지 않음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8EEF5"/>
                </a:solidFill>
                <a:latin typeface="Consolas"/>
              </a:rPr>
              <a:t># copy-only · 원본 경로에 쓰지 않음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570"/>
                </a:solidFill>
                <a:latin typeface="Malgun Gothic"/>
              </a:rPr>
              <a:t>이 코드가 하는 일: Pilot UI 6단계를 기존 workflow 엔진에 연결한다.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A43"/>
                </a:solidFill>
                <a:latin typeface="Malgun Gothic"/>
              </a:rPr>
              <a:t>코드 · 분석 결과물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247120" cy="4572000"/>
          </a:xfrm>
          <a:prstGeom prst="roundRect">
            <a:avLst/>
          </a:prstGeom>
          <a:solidFill>
            <a:srgbClr val="0F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E8EEF5"/>
                </a:solidFill>
                <a:latin typeface="Consolas"/>
              </a:rPr>
              <a:t># workflow.run_analysis →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8EEF5"/>
                </a:solidFill>
                <a:latin typeface="Consolas"/>
              </a:rPr>
              <a:t>record.impacted_documents = ...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8EEF5"/>
                </a:solidFill>
                <a:latin typeface="Consolas"/>
              </a:rPr>
              <a:t>record.patch_candidates = ...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8EEF5"/>
                </a:solidFill>
                <a:latin typeface="Consolas"/>
              </a:rPr>
              <a:t>record.review_required = ...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8EEF5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8EEF5"/>
                </a:solidFill>
                <a:latin typeface="Consolas"/>
              </a:rPr>
              <a:t># 각 항목은 PENDING 승인 상태로 대기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8EEF5"/>
                </a:solidFill>
                <a:latin typeface="Consolas"/>
              </a:rPr>
              <a:t># → WAITING_APPROVAL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570"/>
                </a:solidFill>
                <a:latin typeface="Malgun Gothic"/>
              </a:rPr>
              <a:t>이 코드가 하는 일: 영향 문서·패치 후보·REVIEW를 만들고 사람 승인을 기다린다.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A43"/>
                </a:solidFill>
                <a:latin typeface="Malgun Gothic"/>
              </a:rPr>
              <a:t>코드 · Identity / Routing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247120" cy="4572000"/>
          </a:xfrm>
          <a:prstGeom prst="roundRect">
            <a:avLst/>
          </a:prstGeom>
          <a:solidFill>
            <a:srgbClr val="0F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E8EEF5"/>
                </a:solidFill>
                <a:latin typeface="Consolas"/>
              </a:rPr>
              <a:t># document_identity.resolve_uploaded_documents(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8EEF5"/>
                </a:solidFill>
                <a:latin typeface="Consolas"/>
              </a:rPr>
              <a:t>#   routing_mode="assisted",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8EEF5"/>
                </a:solidFill>
                <a:latin typeface="Consolas"/>
              </a:rPr>
              <a:t>#   user_confirmed=False/True,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8EEF5"/>
                </a:solidFill>
                <a:latin typeface="Consolas"/>
              </a:rPr>
              <a:t># 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8EEF5"/>
                </a:solidFill>
                <a:latin typeface="Consolas"/>
              </a:rPr>
              <a:t># → recommended Domain Pack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8EEF5"/>
                </a:solidFill>
                <a:latin typeface="Consolas"/>
              </a:rPr>
              <a:t># → needs_user_confirmation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570"/>
                </a:solidFill>
                <a:latin typeface="Malgun Gothic"/>
              </a:rPr>
              <a:t>이 코드가 하는 일: 문서 유형을 추천하고, assisted면 사람 확정을 요구한다.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A43"/>
                </a:solidFill>
                <a:latin typeface="Malgun Gothic"/>
              </a:rPr>
              <a:t>코드 · Writer 게이트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247120" cy="4572000"/>
          </a:xfrm>
          <a:prstGeom prst="roundRect">
            <a:avLst/>
          </a:prstGeom>
          <a:solidFill>
            <a:srgbClr val="0F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E8EEF5"/>
                </a:solidFill>
                <a:latin typeface="Consolas"/>
              </a:rPr>
              <a:t># run_writer_if_allowed(...)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8EEF5"/>
                </a:solidFill>
                <a:latin typeface="Consolas"/>
              </a:rPr>
              <a:t># 필요 조건(개념):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8EEF5"/>
                </a:solidFill>
                <a:latin typeface="Consolas"/>
              </a:rPr>
              <a:t>#   explicit APPROVE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8EEF5"/>
                </a:solidFill>
                <a:latin typeface="Consolas"/>
              </a:rPr>
              <a:t>#   routing confirmed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8EEF5"/>
                </a:solidFill>
                <a:latin typeface="Consolas"/>
              </a:rPr>
              <a:t>#   Patch Contract VALID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8EEF5"/>
                </a:solidFill>
                <a:latin typeface="Consolas"/>
              </a:rPr>
              <a:t>#   physical locator RESOLVED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8EEF5"/>
                </a:solidFill>
                <a:latin typeface="Consolas"/>
              </a:rPr>
              <a:t>#   fingerprint match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8EEF5"/>
                </a:solidFill>
                <a:latin typeface="Consolas"/>
              </a:rPr>
              <a:t>#   CONTROLLED_WRITER_ENABLED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8EEF5"/>
                </a:solidFill>
                <a:latin typeface="Consolas"/>
              </a:rPr>
              <a:t>#   copy path ≠ original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8EEF5"/>
                </a:solidFill>
                <a:latin typeface="Consolas"/>
              </a:rPr>
              <a:t># 아니면 status = BLOCKED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570"/>
                </a:solidFill>
                <a:latin typeface="Malgun Gothic"/>
              </a:rPr>
              <a:t>이 코드가 하는 일: 조건이 하나라도 빠지면 쓰기를 막는다.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4E79"/>
                </a:solidFill>
                <a:latin typeface="Malgun Gothic"/>
              </a:rPr>
              <a:t>06 · 검증 결과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A43"/>
                </a:solidFill>
                <a:latin typeface="Malgun Gothic"/>
              </a:rPr>
              <a:t>Benchmark (고정 참조)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1155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41148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algun Gothic"/>
                        </a:rPr>
                        <a:t>지표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algun Gothic"/>
                        </a:rPr>
                        <a:t>값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Holdout Document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0.956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Holdout E2E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0.957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False Patch / Unsafe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0 / 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Original Preservation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BP Required Top-1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0.929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GR Node Top-1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EC-SW Stable Identity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A43"/>
                </a:solidFill>
                <a:latin typeface="Malgun Gothic"/>
              </a:rPr>
              <a:t>Pilot Run 01 (Writer OFF)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1155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41148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algun Gothic"/>
                        </a:rPr>
                        <a:t>지표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algun Gothic"/>
                        </a:rPr>
                        <a:t>값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Sessions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9 (EC3 / GR3 / BP3)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Completion Rate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Document / Node Agree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0.889 / 0.889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Mean Trust / Usability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3.778 / 4.000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Original changed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Unauthorized writer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Major bug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C1F24"/>
                          </a:solidFill>
                          <a:latin typeface="Malgun Gothic"/>
                        </a:rPr>
                        <a:t>의미기반 후보 0건 1건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43"/>
                </a:solidFill>
                <a:latin typeface="Malgun Gothic"/>
              </a:rPr>
              <a:t>한계와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Next: Pilot Run 02 실사용자 UI 평가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Next: Writer ON 소규모 안전 Pilot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이후: 승인 게이트 유지 텍스트 apply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장기: MDVP · LLM free_text (현재 범위 밖)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43"/>
                </a:solidFill>
                <a:latin typeface="Malgun Gothic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Document AI v2 Pilot = 안전한 변경 위치 탐색기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사람은 승인하고, 원본은 건드리지 않는다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F24"/>
                </a:solidFill>
                <a:latin typeface="Malgun Gothic"/>
              </a:rPr>
              <a:t>•  검증된 엔진 + 통제된 UI로 실사용 준비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F2A43"/>
                </a:solidFill>
                <a:latin typeface="Malgun Gothic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C6570"/>
                </a:solidFill>
                <a:latin typeface="Malgun Gothic"/>
              </a:rPr>
              <a:t>Document AI v2 · Pilot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